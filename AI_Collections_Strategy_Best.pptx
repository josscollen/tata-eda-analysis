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AI-Powered Collections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980B9"/>
                </a:solidFill>
                <a:latin typeface="Calibri"/>
              </a:rPr>
              <a:t>Leveraging Agentic AI for Scalable, Fair, and Effective Debt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CF0F1"/>
                </a:solidFill>
                <a:latin typeface="Calibri"/>
              </a:rPr>
              <a:t>Joss Collen | AI Transformation Consultant, Tata iQ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How the System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1828800" cy="182880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DATA
PIPELINE
Customer Data
Risk Scores
Payment History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94560" y="1645920"/>
            <a:ext cx="457200" cy="36576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1828800" cy="18288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DECISION
ENGINE
Risk Scoring
Business Rules
Action Selection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63440" y="1645920"/>
            <a:ext cx="457200" cy="36576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1097280"/>
            <a:ext cx="1828800" cy="18288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ACTION
LAYER
SMS/Email
Payment Plans
Collections Calls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32320" y="1645920"/>
            <a:ext cx="457200" cy="36576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097280"/>
            <a:ext cx="1371600" cy="18288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LEARN
Track
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686800" cy="457200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Risk Score &gt; 0.7  →  HIGH RISK  →  Collections Team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86868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Risk Score 0.4 - 0.7  →  MEDIUM RISK  →  Payment Plan Offer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97680"/>
            <a:ext cx="8686800" cy="457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Risk Score &lt; 0.4  →  LOW RISK  →  Automated Reminder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Role of Agentic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AUTONOMOUS (AI Handles)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Send payment reminder SMS/email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03120"/>
            <a:ext cx="41148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Generate risk scores daily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651760"/>
            <a:ext cx="41148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Adjust outreach timing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200400"/>
            <a:ext cx="41148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Flag accounts crossing thresholds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41148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Track repayment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HUMAN OVERSIGHT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Approve hardship payment plans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103120"/>
            <a:ext cx="4114800" cy="4572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Handle customer disputes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651760"/>
            <a:ext cx="4114800" cy="4572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Make exceptions to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200400"/>
            <a:ext cx="4114800" cy="4572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Escalate legal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749039"/>
            <a:ext cx="4114800" cy="4572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Review edge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Responsible AI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164592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FAIRNESS
Audit model monthly for bias
Check age, employment, location
No group disproportionately flagged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4114800" cy="1645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EXPLAINABILITY
Plain-language explanations
'Flagged due to 3+ missed payments'
Logistic regression = transparent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017520"/>
            <a:ext cx="4114800" cy="1645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COMPLIANCE
Follow ECOA, GDPR, FCA
Maintain audit trail
Document all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017520"/>
            <a:ext cx="4114800" cy="16459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HUMAN-IN-THE-LOOP
High-impact decisions need approval
Customers can appeal
Humans handle complex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Expected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BUSINESS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4114800" cy="274320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Delinquency: 16% → 10%
Business cards: 21.3% → 14%
Repayment rates: +20-30%
Collections costs: -40%
Faster response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CUSTOMER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554480"/>
            <a:ext cx="4114800" cy="2743200"/>
          </a:xfrm>
          <a:prstGeom prst="roundRect">
            <a:avLst/>
          </a:prstGeom>
          <a:solidFill>
            <a:srgbClr val="1A2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Personalized supportive outreach
Real-time response
Fair treatment for all
Scalable without adding staff
Better customer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